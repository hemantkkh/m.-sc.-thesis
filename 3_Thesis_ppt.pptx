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88" autoAdjust="0"/>
  </p:normalViewPr>
  <p:slideViewPr>
    <p:cSldViewPr snapToGrid="0">
      <p:cViewPr varScale="1">
        <p:scale>
          <a:sx n="59" d="100"/>
          <a:sy n="59" d="100"/>
        </p:scale>
        <p:origin x="9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0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9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68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226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75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954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420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00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15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81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8691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995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8693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7839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9202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872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3E667-7AF6-4DE1-80E3-9A70FD06D35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EEF82E6-9043-4F1D-92D7-73F64FA3A3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95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1D4CD-F7CE-A8DA-A142-33F5B907A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431" y="1653471"/>
            <a:ext cx="11863137" cy="2387600"/>
          </a:xfrm>
        </p:spPr>
        <p:txBody>
          <a:bodyPr>
            <a:noAutofit/>
          </a:bodyPr>
          <a:lstStyle/>
          <a:p>
            <a:r>
              <a:rPr lang="en-IN" sz="3600" cap="all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MATCHING </a:t>
            </a:r>
            <a:r>
              <a:rPr lang="en-IN" sz="3600" cap="all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PRODuCTS</a:t>
            </a:r>
            <a:r>
              <a:rPr lang="en-IN" sz="3600" cap="all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Recommendations ON </a:t>
            </a:r>
            <a:r>
              <a:rPr lang="en-IN" sz="3600" cap="all" dirty="0" err="1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UPLOADing</a:t>
            </a:r>
            <a:r>
              <a:rPr lang="en-IN" sz="3600" cap="all" dirty="0">
                <a:solidFill>
                  <a:schemeClr val="bg2">
                    <a:lumMod val="25000"/>
                  </a:schemeClr>
                </a:solidFill>
                <a:latin typeface="Arial Rounded MT Bold" panose="020F0704030504030204" pitchFamily="34" charset="0"/>
              </a:rPr>
              <a:t> AN image On an e-commerce Platform USING neural network models</a:t>
            </a:r>
            <a:br>
              <a:rPr lang="en-IN" sz="3600" dirty="0">
                <a:solidFill>
                  <a:schemeClr val="bg2">
                    <a:lumMod val="25000"/>
                  </a:schemeClr>
                </a:solidFill>
              </a:rPr>
            </a:br>
            <a:endParaRPr lang="en-IN" sz="36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53965-9C77-C903-02B9-9B1063973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0501"/>
            <a:ext cx="9144000" cy="1655762"/>
          </a:xfrm>
        </p:spPr>
        <p:txBody>
          <a:bodyPr/>
          <a:lstStyle/>
          <a:p>
            <a:r>
              <a:rPr lang="en-IN" dirty="0"/>
              <a:t>HEMANT KUMAR KHURANA</a:t>
            </a:r>
          </a:p>
          <a:p>
            <a:endParaRPr lang="en-IN" dirty="0"/>
          </a:p>
          <a:p>
            <a:r>
              <a:rPr lang="en-IN" dirty="0"/>
              <a:t>Nov 2025</a:t>
            </a:r>
          </a:p>
        </p:txBody>
      </p:sp>
    </p:spTree>
    <p:extLst>
      <p:ext uri="{BB962C8B-B14F-4D97-AF65-F5344CB8AC3E}">
        <p14:creationId xmlns:p14="http://schemas.microsoft.com/office/powerpoint/2010/main" val="2041036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34F84-15B5-4698-12D8-CDC38B6C5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3811E-8C3C-E497-1C1B-28C683475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r>
              <a:rPr lang="en-IN" dirty="0"/>
              <a:t>The thesis is about the application of reverse image retrieval on fashion industry data for an ecommerce website.</a:t>
            </a:r>
          </a:p>
          <a:p>
            <a:r>
              <a:rPr lang="en-IN" dirty="0"/>
              <a:t>The aim is to test various models on the fashion industry dataset and find a model which is best suited for reverse image search for an fashion industry ecommerce website.</a:t>
            </a:r>
          </a:p>
          <a:p>
            <a:r>
              <a:rPr lang="en-IN" dirty="0"/>
              <a:t>The objectives include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To access the effectiveness of the pre trained models in terms of accuracy for reverse image search on an fashion industry ecommerce platform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To build new custom made model and compare the results with pre-trained models.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To measure the effect of pre-processing of data and of different similarity measure on results.</a:t>
            </a:r>
          </a:p>
        </p:txBody>
      </p:sp>
    </p:spTree>
    <p:extLst>
      <p:ext uri="{BB962C8B-B14F-4D97-AF65-F5344CB8AC3E}">
        <p14:creationId xmlns:p14="http://schemas.microsoft.com/office/powerpoint/2010/main" val="357526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A4C9-2B6D-1184-2038-B68362BA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199AB-D0D6-69B0-54E3-94D1D719B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5625"/>
            <a:ext cx="4876800" cy="4351338"/>
          </a:xfrm>
        </p:spPr>
        <p:txBody>
          <a:bodyPr/>
          <a:lstStyle/>
          <a:p>
            <a:r>
              <a:rPr lang="en-IN" dirty="0"/>
              <a:t>Application areas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Fashion industry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Garment industry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Fashion forecasting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Logistics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Collage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/>
              <a:t>Cross border ecommerce</a:t>
            </a:r>
          </a:p>
          <a:p>
            <a:pPr marL="457200" lvl="1" indent="0">
              <a:buNone/>
            </a:pP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4C7E42-158C-2B42-5F62-46E35FBC01E9}"/>
              </a:ext>
            </a:extLst>
          </p:cNvPr>
          <p:cNvSpPr txBox="1">
            <a:spLocks/>
          </p:cNvSpPr>
          <p:nvPr/>
        </p:nvSpPr>
        <p:spPr>
          <a:xfrm>
            <a:off x="5965372" y="1825625"/>
            <a:ext cx="51598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Other Application areas</a:t>
            </a:r>
          </a:p>
          <a:p>
            <a:pPr lvl="1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Webpage Recommendations</a:t>
            </a:r>
          </a:p>
          <a:p>
            <a:pPr lvl="1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Advertisement</a:t>
            </a:r>
          </a:p>
          <a:p>
            <a:pPr lvl="1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Counterfeiting</a:t>
            </a:r>
          </a:p>
          <a:p>
            <a:pPr lvl="1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Disease Diagnosis</a:t>
            </a:r>
          </a:p>
          <a:p>
            <a:pPr lvl="1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Library and Information Science</a:t>
            </a:r>
          </a:p>
          <a:p>
            <a:pPr lvl="1" defTabSz="457200">
              <a:spcBef>
                <a:spcPts val="1000"/>
              </a:spcBef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Digital Forensics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IN" dirty="0"/>
          </a:p>
          <a:p>
            <a:pPr lvl="1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858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5B8C1-579E-9337-07E8-96D635479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Image Retrieval – Initial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D39DB-CA3E-1215-30BC-35811DE80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Text to Image</a:t>
            </a:r>
          </a:p>
          <a:p>
            <a:r>
              <a:rPr lang="en-IN" dirty="0"/>
              <a:t>Histogram of RCB values</a:t>
            </a:r>
          </a:p>
          <a:p>
            <a:r>
              <a:rPr lang="en-IN" dirty="0"/>
              <a:t>Perpetual Hashing</a:t>
            </a:r>
          </a:p>
          <a:p>
            <a:r>
              <a:rPr lang="en-IN" dirty="0"/>
              <a:t>Compact Composite Descriptor</a:t>
            </a:r>
          </a:p>
          <a:p>
            <a:r>
              <a:rPr lang="en-IN" dirty="0"/>
              <a:t>Texture Histograms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318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FE651-31BA-3D96-D15E-CDDE90EC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Image Retrieval – Manual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79DB6-5FC0-AA0E-6AE7-C4749EEB7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Scale Invariant Feature Transform (SIFT)</a:t>
            </a:r>
          </a:p>
          <a:p>
            <a:r>
              <a:rPr lang="en-IN" dirty="0"/>
              <a:t>Speeded Up Robust Features (SURF)</a:t>
            </a:r>
          </a:p>
          <a:p>
            <a:r>
              <a:rPr lang="en-IN" dirty="0"/>
              <a:t>Oriented Fast Rotated Brief (ORB)</a:t>
            </a:r>
          </a:p>
          <a:p>
            <a:r>
              <a:rPr lang="en-IN" dirty="0"/>
              <a:t>Local binary pattern</a:t>
            </a:r>
          </a:p>
          <a:p>
            <a:r>
              <a:rPr lang="en-IN" dirty="0"/>
              <a:t>Principal Component Analysis</a:t>
            </a:r>
          </a:p>
          <a:p>
            <a:r>
              <a:rPr lang="en-IN" dirty="0"/>
              <a:t>Linear Discriminant Analysis</a:t>
            </a:r>
          </a:p>
          <a:p>
            <a:r>
              <a:rPr lang="en-IN" dirty="0"/>
              <a:t>Maximally Stable Extremal Regions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233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F999-171F-45CF-5B5C-0A4FA42F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Image Retrieval – CNN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6BB0E-51B4-53B8-AA3A-E98897812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231011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Single Image Based Models</a:t>
            </a:r>
          </a:p>
          <a:p>
            <a:r>
              <a:rPr lang="en-IN" dirty="0" err="1"/>
              <a:t>EfficinetNet</a:t>
            </a:r>
            <a:endParaRPr lang="en-IN" dirty="0"/>
          </a:p>
          <a:p>
            <a:r>
              <a:rPr lang="en-IN" dirty="0" err="1"/>
              <a:t>InceptionNet</a:t>
            </a:r>
            <a:endParaRPr lang="en-IN" dirty="0"/>
          </a:p>
          <a:p>
            <a:r>
              <a:rPr lang="en-IN" dirty="0" err="1"/>
              <a:t>ResNet</a:t>
            </a:r>
            <a:endParaRPr lang="en-IN" dirty="0"/>
          </a:p>
          <a:p>
            <a:r>
              <a:rPr lang="en-IN" dirty="0" err="1"/>
              <a:t>VGGNet</a:t>
            </a:r>
            <a:endParaRPr lang="en-IN" dirty="0"/>
          </a:p>
          <a:p>
            <a:r>
              <a:rPr lang="en-IN" dirty="0" err="1"/>
              <a:t>AlexNet</a:t>
            </a:r>
            <a:endParaRPr lang="en-IN" dirty="0"/>
          </a:p>
          <a:p>
            <a:r>
              <a:rPr lang="en-IN" dirty="0"/>
              <a:t>LeNet-5</a:t>
            </a:r>
          </a:p>
          <a:p>
            <a:r>
              <a:rPr lang="en-IN" dirty="0" err="1"/>
              <a:t>MobileNet</a:t>
            </a:r>
            <a:endParaRPr lang="en-IN" dirty="0"/>
          </a:p>
          <a:p>
            <a:r>
              <a:rPr lang="en-IN" dirty="0" err="1"/>
              <a:t>GoogleNet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CA5794-4727-24E8-0D8B-9DFA13EFAE39}"/>
              </a:ext>
            </a:extLst>
          </p:cNvPr>
          <p:cNvSpPr txBox="1">
            <a:spLocks/>
          </p:cNvSpPr>
          <p:nvPr/>
        </p:nvSpPr>
        <p:spPr>
          <a:xfrm>
            <a:off x="5652908" y="1804525"/>
            <a:ext cx="27084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Clr>
                <a:schemeClr val="accent1"/>
              </a:buClr>
              <a:buSzPct val="80000"/>
              <a:buNone/>
            </a:pPr>
            <a:r>
              <a:rPr lang="en-IN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Shot Detector Models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Yolo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Single Shot Detector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B4CA42E-A754-5A15-1033-03D3E24A1DC4}"/>
              </a:ext>
            </a:extLst>
          </p:cNvPr>
          <p:cNvSpPr txBox="1">
            <a:spLocks/>
          </p:cNvSpPr>
          <p:nvPr/>
        </p:nvSpPr>
        <p:spPr>
          <a:xfrm>
            <a:off x="3222224" y="1810875"/>
            <a:ext cx="25606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Clr>
                <a:schemeClr val="accent1"/>
              </a:buClr>
              <a:buSzPct val="80000"/>
              <a:buNone/>
            </a:pPr>
            <a:r>
              <a:rPr lang="en-IN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Region Based Models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RCNN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Fast RCNN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Faster RCNN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D133DC-0CCA-29EF-8102-452D541DB156}"/>
              </a:ext>
            </a:extLst>
          </p:cNvPr>
          <p:cNvSpPr txBox="1">
            <a:spLocks/>
          </p:cNvSpPr>
          <p:nvPr/>
        </p:nvSpPr>
        <p:spPr>
          <a:xfrm>
            <a:off x="8287474" y="1825625"/>
            <a:ext cx="270847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Clr>
                <a:schemeClr val="accent1"/>
              </a:buClr>
              <a:buSzPct val="80000"/>
              <a:buNone/>
            </a:pPr>
            <a:r>
              <a:rPr lang="en-IN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 Shot Learning Models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Triplet Network</a:t>
            </a:r>
          </a:p>
          <a:p>
            <a:pPr marL="342900" indent="-342900" defTabSz="457200"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IN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Contrastive Learning Based Models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7645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13E5D-1C4A-A10A-E7D9-5EC343C38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Image Retrieval – Advanced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F036B-5635-034B-44F1-1F64E2C4D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Multi-Objective for Adaptive Reverse Recommendation</a:t>
            </a:r>
          </a:p>
          <a:p>
            <a:r>
              <a:rPr lang="en-IN" dirty="0"/>
              <a:t>Hybrid Recommendation (CNN plus Clustering)</a:t>
            </a:r>
          </a:p>
          <a:p>
            <a:r>
              <a:rPr lang="en-IN" dirty="0"/>
              <a:t>Clustering Techniques (Fuzzy C-means, RGB, Texture)</a:t>
            </a:r>
          </a:p>
          <a:p>
            <a:r>
              <a:rPr lang="en-IN" dirty="0"/>
              <a:t>Image Pre-processing (</a:t>
            </a:r>
            <a:r>
              <a:rPr lang="en-IN" dirty="0" err="1"/>
              <a:t>Color</a:t>
            </a:r>
            <a:r>
              <a:rPr lang="en-IN" dirty="0"/>
              <a:t> Histogram, Wavelet Transforms, 3D Histograms, </a:t>
            </a:r>
            <a:r>
              <a:rPr lang="en-IN" dirty="0" err="1"/>
              <a:t>Color</a:t>
            </a:r>
            <a:r>
              <a:rPr lang="en-IN" dirty="0"/>
              <a:t> Space, Local Binary Pattern, Grey Wolf Optimization)</a:t>
            </a:r>
          </a:p>
          <a:p>
            <a:r>
              <a:rPr lang="en-IN" dirty="0"/>
              <a:t>Vector Database Management</a:t>
            </a:r>
          </a:p>
          <a:p>
            <a:r>
              <a:rPr lang="en-IN" dirty="0"/>
              <a:t>Fine-Grained Model (Mask Recurrent Convolutional Network-Location Detection, Class, Bounding Box, Segmentation Mask)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552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3EEE1-6356-6172-3EEF-55ABB038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Methodology – Data Selection, Pre-Processing and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27D81-0CAB-1CA8-6655-9B11893D5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Data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Fashion Industry Dataset is selected from Kaggle.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Data size of 572.13 MB.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44.4k images and a csv file.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Image resolution of 60*80 pixel.</a:t>
            </a:r>
          </a:p>
          <a:p>
            <a:pPr marL="0" indent="0">
              <a:buNone/>
            </a:pPr>
            <a:r>
              <a:rPr lang="en-IN" b="1" dirty="0"/>
              <a:t>Data Pre-processing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 </a:t>
            </a:r>
            <a:r>
              <a:rPr lang="en-IN" dirty="0"/>
              <a:t>Image resizing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Image Padding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Normalization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Image rotation, zoom and crop</a:t>
            </a:r>
          </a:p>
          <a:p>
            <a:pPr marL="0" indent="0">
              <a:buNone/>
            </a:pPr>
            <a:r>
              <a:rPr lang="en-IN" b="1" dirty="0"/>
              <a:t>Transformation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/>
              <a:t>Contrastive Learning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59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2873-848D-4F18-354A-6154E3F89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649" y="543658"/>
            <a:ext cx="8596668" cy="1320800"/>
          </a:xfrm>
        </p:spPr>
        <p:txBody>
          <a:bodyPr/>
          <a:lstStyle/>
          <a:p>
            <a:r>
              <a:rPr lang="en-IN" dirty="0"/>
              <a:t>Research Methodology – Data Visualization Frequency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DAF52-572F-7F34-C82F-5565BE606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03638"/>
            <a:ext cx="3171463" cy="1516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2C7E6D-240A-0E38-AD99-4E9EF4472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7349" y="1672908"/>
            <a:ext cx="3590681" cy="15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344ED-3D40-24DC-A0E1-BE14A127F0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030" y="1581585"/>
            <a:ext cx="4732358" cy="2501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CF1C78-43C4-F056-5925-6062B39910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230260"/>
            <a:ext cx="3345084" cy="198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95A94-1F94-C65E-7429-2FA211CE97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8588" y="4130751"/>
            <a:ext cx="4284277" cy="2501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85DA1E-5E51-E34A-E6B5-93188E519C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971" y="3091781"/>
            <a:ext cx="3753914" cy="1985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3CA059-79B2-BDFE-DE88-D55D213858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26" y="5190321"/>
            <a:ext cx="3389569" cy="1572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7298E7-16DA-B7AF-9401-7C9594C49D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394" y="5169453"/>
            <a:ext cx="3543294" cy="154688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CB26079-AA4F-1126-1B9E-4D4389A11168}"/>
              </a:ext>
            </a:extLst>
          </p:cNvPr>
          <p:cNvSpPr txBox="1"/>
          <p:nvPr/>
        </p:nvSpPr>
        <p:spPr>
          <a:xfrm>
            <a:off x="1235528" y="1518728"/>
            <a:ext cx="1090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Gender wise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EDE509-BA7D-3E34-9215-91E36D83AE6F}"/>
              </a:ext>
            </a:extLst>
          </p:cNvPr>
          <p:cNvSpPr txBox="1"/>
          <p:nvPr/>
        </p:nvSpPr>
        <p:spPr>
          <a:xfrm>
            <a:off x="5274708" y="1653401"/>
            <a:ext cx="1602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Master Category wise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1FE455-980A-C5CC-18BE-D5D7A3A6AE38}"/>
              </a:ext>
            </a:extLst>
          </p:cNvPr>
          <p:cNvSpPr txBox="1"/>
          <p:nvPr/>
        </p:nvSpPr>
        <p:spPr>
          <a:xfrm>
            <a:off x="9161240" y="1395909"/>
            <a:ext cx="14411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 err="1"/>
              <a:t>SubCategory</a:t>
            </a:r>
            <a:r>
              <a:rPr lang="en-IN" sz="1200" dirty="0"/>
              <a:t> wise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91B4DF-0D85-36FF-D586-AB0628C1EA1A}"/>
              </a:ext>
            </a:extLst>
          </p:cNvPr>
          <p:cNvSpPr txBox="1"/>
          <p:nvPr/>
        </p:nvSpPr>
        <p:spPr>
          <a:xfrm>
            <a:off x="9218493" y="3992252"/>
            <a:ext cx="1615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Base Colour wise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CF4D39-5208-F5AF-1ADF-05747E53478A}"/>
              </a:ext>
            </a:extLst>
          </p:cNvPr>
          <p:cNvSpPr txBox="1"/>
          <p:nvPr/>
        </p:nvSpPr>
        <p:spPr>
          <a:xfrm>
            <a:off x="4773196" y="3117959"/>
            <a:ext cx="1615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Season wise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346408-126D-76D0-19A7-2713548FC12C}"/>
              </a:ext>
            </a:extLst>
          </p:cNvPr>
          <p:cNvSpPr txBox="1"/>
          <p:nvPr/>
        </p:nvSpPr>
        <p:spPr>
          <a:xfrm>
            <a:off x="4633331" y="4979504"/>
            <a:ext cx="1615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Base Usage wise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571EDC-11AA-33C2-638B-E8A522B4BBA7}"/>
              </a:ext>
            </a:extLst>
          </p:cNvPr>
          <p:cNvSpPr txBox="1"/>
          <p:nvPr/>
        </p:nvSpPr>
        <p:spPr>
          <a:xfrm>
            <a:off x="1170529" y="5200485"/>
            <a:ext cx="1615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Year wise</a:t>
            </a:r>
          </a:p>
        </p:txBody>
      </p:sp>
    </p:spTree>
    <p:extLst>
      <p:ext uri="{BB962C8B-B14F-4D97-AF65-F5344CB8AC3E}">
        <p14:creationId xmlns:p14="http://schemas.microsoft.com/office/powerpoint/2010/main" val="147940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09F2-BA0B-B794-77AC-6BCBF818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Methodology – Data Visualization Heat Maps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69E82-7EBE-E1C8-16B3-57CA84D5E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88" y="1930399"/>
            <a:ext cx="5206453" cy="4171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880054-122B-44F7-D681-AA82CCEC3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213" y="1930399"/>
            <a:ext cx="5206453" cy="4171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6439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38B17-296A-9B1D-B150-80631E8E6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Process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BC20C19-5499-DA3D-9189-755F7CB94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91343"/>
            <a:ext cx="9731829" cy="4321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78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F2DF-157A-AF52-424D-06FF59E28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Methodology – 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20DB5-9344-FB99-08A6-68CDDADDF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571500" lvl="0" indent="-571500">
              <a:buFont typeface="+mj-lt"/>
              <a:buAutoNum type="romanUcPeriod"/>
            </a:pPr>
            <a:r>
              <a:rPr lang="en-IN" sz="3400" dirty="0"/>
              <a:t>Pre-trained MobileNetV2 model trained on ImageNet dataset with Euclidean distance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sz="3400" dirty="0"/>
              <a:t>Pre-trained MobileNetV2 model trained on ImageNet dataset with Cosine Similarity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sz="3400" dirty="0"/>
              <a:t>Pre-trained MobileNetV2 model trained on ImageNet dataset with Manhattan distance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sz="3400" dirty="0"/>
              <a:t>Pre-trained ResNet50 model trained on ImageNet dataset for feature database along with MobileNetV2 model for image feature extraction with Manhattan distance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sz="3400" dirty="0"/>
              <a:t>Pre-trained ResNet50 model trained on ImageNet dataset with Manhattan distance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sz="3400" dirty="0"/>
              <a:t>Pre-trained ResNet50 model trained on ImageNet dataset with image padding with Manhattan distance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sz="3400" dirty="0"/>
              <a:t>Fine-tuned (on </a:t>
            </a:r>
            <a:r>
              <a:rPr lang="en-IN" sz="3400" dirty="0" err="1"/>
              <a:t>articleType</a:t>
            </a:r>
            <a:r>
              <a:rPr lang="en-IN" sz="3400" dirty="0"/>
              <a:t> classification) pre-trained ResNet50 model trained on ImageNet dataset with cosine similarity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sz="3400" dirty="0"/>
              <a:t>Contrastive Learning Fine-tuned pre-trained ResNet50 model trained on ImageNet dataset with Cosine Similarity</a:t>
            </a:r>
          </a:p>
          <a:p>
            <a:pPr marL="571500" lvl="0" indent="-571500">
              <a:buFont typeface="+mj-lt"/>
              <a:buAutoNum type="romanUcPeriod"/>
            </a:pPr>
            <a:r>
              <a:rPr lang="en-IN" sz="3400" dirty="0"/>
              <a:t>Custom Build Contrastive Learning ResNet50 model trained on fashion industry dataset with Cosine Similarity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8064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9736D-0628-2E31-D936-91E7D8E6C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–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8AF6F-CF2D-C144-58B3-D0A238A2D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Pre-trained MobileNetV2 model trained on ImageNet dataset with Euclidean distance</a:t>
            </a:r>
          </a:p>
          <a:p>
            <a:pPr marL="514350" indent="-514350">
              <a:buFont typeface="+mj-lt"/>
              <a:buAutoNum type="alphaLcPeriod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D74F55-EDCF-6180-09ED-09C639D9E6BD}"/>
              </a:ext>
            </a:extLst>
          </p:cNvPr>
          <p:cNvSpPr txBox="1"/>
          <p:nvPr/>
        </p:nvSpPr>
        <p:spPr>
          <a:xfrm>
            <a:off x="1146035" y="5463250"/>
            <a:ext cx="167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Sample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05B081-B7EF-FBA0-74A1-884D93530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41" y="4143737"/>
            <a:ext cx="1132178" cy="12283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C79C54-6C40-D382-1AB7-12D501B25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100" y="3428999"/>
            <a:ext cx="1670679" cy="19430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4A94E7-531A-B107-A8CC-0D71C5EBFFB0}"/>
              </a:ext>
            </a:extLst>
          </p:cNvPr>
          <p:cNvSpPr txBox="1"/>
          <p:nvPr/>
        </p:nvSpPr>
        <p:spPr>
          <a:xfrm>
            <a:off x="3699421" y="5451675"/>
            <a:ext cx="1699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 18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76972E-52AE-BFEF-9C23-B4BDBCD42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698942"/>
            <a:ext cx="1670679" cy="26047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94C5FE3-0FF8-51C9-A6F1-5523AFD2B779}"/>
              </a:ext>
            </a:extLst>
          </p:cNvPr>
          <p:cNvSpPr txBox="1"/>
          <p:nvPr/>
        </p:nvSpPr>
        <p:spPr>
          <a:xfrm>
            <a:off x="6281627" y="5417799"/>
            <a:ext cx="1699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 19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E5076B-CC2B-1E4C-AF87-3EFDC31A4C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8415" y="2369861"/>
            <a:ext cx="1722903" cy="29195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87C40E-5DD2-9E92-5824-8CC2E80B05C5}"/>
              </a:ext>
            </a:extLst>
          </p:cNvPr>
          <p:cNvSpPr txBox="1"/>
          <p:nvPr/>
        </p:nvSpPr>
        <p:spPr>
          <a:xfrm>
            <a:off x="8611820" y="5372065"/>
            <a:ext cx="1699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 20</a:t>
            </a:r>
          </a:p>
        </p:txBody>
      </p:sp>
    </p:spTree>
    <p:extLst>
      <p:ext uri="{BB962C8B-B14F-4D97-AF65-F5344CB8AC3E}">
        <p14:creationId xmlns:p14="http://schemas.microsoft.com/office/powerpoint/2010/main" val="3326568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88579-E222-7A62-2179-2E5F36A55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6995-70E6-CBED-C5A4-E9D54DBD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–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61CB0-5B87-ED7A-E5FD-E553941C4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Pre-trained MobileNetV2 model trained on ImageNet dataset with Cosine Similarity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82CC3A-4394-011A-5CE8-CD1DCA626D61}"/>
              </a:ext>
            </a:extLst>
          </p:cNvPr>
          <p:cNvSpPr txBox="1"/>
          <p:nvPr/>
        </p:nvSpPr>
        <p:spPr>
          <a:xfrm>
            <a:off x="1146035" y="5463250"/>
            <a:ext cx="167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Sample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390B4B-03D0-055B-6B21-743BF19343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36" y="4111559"/>
            <a:ext cx="1049717" cy="1216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8C1882-A12C-8C5B-FD14-1F0A3337E371}"/>
              </a:ext>
            </a:extLst>
          </p:cNvPr>
          <p:cNvSpPr txBox="1"/>
          <p:nvPr/>
        </p:nvSpPr>
        <p:spPr>
          <a:xfrm>
            <a:off x="3578607" y="5459040"/>
            <a:ext cx="1890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Similarity of &gt; .85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2BAAFE-7B10-F900-7D51-D6BFF057CAF5}"/>
              </a:ext>
            </a:extLst>
          </p:cNvPr>
          <p:cNvSpPr txBox="1"/>
          <p:nvPr/>
        </p:nvSpPr>
        <p:spPr>
          <a:xfrm>
            <a:off x="6087832" y="5477979"/>
            <a:ext cx="1905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Similarity of &gt; .78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1030C8-9017-D905-DB2D-818E41F2E30A}"/>
              </a:ext>
            </a:extLst>
          </p:cNvPr>
          <p:cNvSpPr txBox="1"/>
          <p:nvPr/>
        </p:nvSpPr>
        <p:spPr>
          <a:xfrm>
            <a:off x="8611819" y="5456055"/>
            <a:ext cx="2094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Similarity of &gt; .75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AEE40C-EB17-A4C8-C123-A58709D77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790" y="3771753"/>
            <a:ext cx="1890420" cy="16460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567541-6C02-5D64-65BA-6D28B69FC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05" y="2974694"/>
            <a:ext cx="1806864" cy="24843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EB84D23-B8E8-90FA-05A8-8DA27A459B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8409" y="2430823"/>
            <a:ext cx="2306320" cy="304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5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ABEB6-12A0-6257-0581-AE7FD48B2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E9596-86A6-A0B5-9EC6-2D621A9DB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–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6896D-3502-0546-E7AD-8C8B1691D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Pre-trained MobileNetV2 model trained on ImageNet dataset with Manhattan Distance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009B70-58FD-72FA-EC1E-9E407401851D}"/>
              </a:ext>
            </a:extLst>
          </p:cNvPr>
          <p:cNvSpPr txBox="1"/>
          <p:nvPr/>
        </p:nvSpPr>
        <p:spPr>
          <a:xfrm>
            <a:off x="1146035" y="5463250"/>
            <a:ext cx="167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Sample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9FE7E-34F5-5FC8-A974-A761583B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36" y="4111559"/>
            <a:ext cx="1049717" cy="1216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C03FEE-935E-A8EE-CA5C-69729044EEB3}"/>
              </a:ext>
            </a:extLst>
          </p:cNvPr>
          <p:cNvSpPr txBox="1"/>
          <p:nvPr/>
        </p:nvSpPr>
        <p:spPr>
          <a:xfrm>
            <a:off x="3578607" y="5459040"/>
            <a:ext cx="1890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&lt;300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5EEDD-E753-C002-879A-186CEF8664CA}"/>
              </a:ext>
            </a:extLst>
          </p:cNvPr>
          <p:cNvSpPr txBox="1"/>
          <p:nvPr/>
        </p:nvSpPr>
        <p:spPr>
          <a:xfrm>
            <a:off x="6087832" y="5477979"/>
            <a:ext cx="1905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 350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EFA5D-D7F3-07B6-69AB-B345F1BE4DB2}"/>
              </a:ext>
            </a:extLst>
          </p:cNvPr>
          <p:cNvSpPr txBox="1"/>
          <p:nvPr/>
        </p:nvSpPr>
        <p:spPr>
          <a:xfrm>
            <a:off x="8611819" y="5456055"/>
            <a:ext cx="2094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&lt;360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49C4B8-BA6B-92C1-4EBD-AC4B1D901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790" y="3771753"/>
            <a:ext cx="1890420" cy="16460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D26F4C-CFC6-85D0-BDF2-BBF95D7AB2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05" y="2974694"/>
            <a:ext cx="1806864" cy="24843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9275E0-A18D-4D84-3253-9E9635745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1819" y="2281940"/>
            <a:ext cx="1806864" cy="313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79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41390-D666-1C05-D6B2-0071A532C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C885-7C88-C16F-8E29-CC0F7826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–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09CA7-9693-2B57-5804-49E2AC8B5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Pre-trained ResNet50 model trained on ImageNet dataset with Manhattan Distance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2112B-32E1-8194-2B24-F2F4639370B7}"/>
              </a:ext>
            </a:extLst>
          </p:cNvPr>
          <p:cNvSpPr txBox="1"/>
          <p:nvPr/>
        </p:nvSpPr>
        <p:spPr>
          <a:xfrm>
            <a:off x="1146035" y="5463250"/>
            <a:ext cx="167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Sample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50B42-7B10-5578-4ABE-3A2E96A2F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36" y="4111559"/>
            <a:ext cx="1049717" cy="1216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488D1F-A4B8-4DDE-6D54-4A15A7B8B1C8}"/>
              </a:ext>
            </a:extLst>
          </p:cNvPr>
          <p:cNvSpPr txBox="1"/>
          <p:nvPr/>
        </p:nvSpPr>
        <p:spPr>
          <a:xfrm>
            <a:off x="4635557" y="5436122"/>
            <a:ext cx="1890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 625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D2D023-0646-A2B9-6A96-134F0A649F78}"/>
              </a:ext>
            </a:extLst>
          </p:cNvPr>
          <p:cNvSpPr txBox="1"/>
          <p:nvPr/>
        </p:nvSpPr>
        <p:spPr>
          <a:xfrm>
            <a:off x="8117613" y="5451652"/>
            <a:ext cx="1905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&lt;650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677D20-F3B8-52BC-F56D-3527BAAA4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3690" y="2796915"/>
            <a:ext cx="2367915" cy="251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9C8C8C-7145-C4AC-842F-3CC9CDFC3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224" y="2808514"/>
            <a:ext cx="1733753" cy="25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30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B6760-2099-2C86-42E4-CE1202CD2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BF44-6155-C294-8B99-739450079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–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EA153-BFEE-4879-3FAA-2127E06AE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Pre-trained ResNet50 model trained on ImageNet dataset with Manhattan Distance and Image Padding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963BF-92E4-B9D5-3466-FBDEAECF32F0}"/>
              </a:ext>
            </a:extLst>
          </p:cNvPr>
          <p:cNvSpPr txBox="1"/>
          <p:nvPr/>
        </p:nvSpPr>
        <p:spPr>
          <a:xfrm>
            <a:off x="1146035" y="5463250"/>
            <a:ext cx="167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Sample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ABD34C-34D7-1C74-F354-8B72D5A18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36" y="4111559"/>
            <a:ext cx="1049717" cy="1216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AFD83F-A2B8-7C8B-4497-3C934AE7BB5F}"/>
              </a:ext>
            </a:extLst>
          </p:cNvPr>
          <p:cNvSpPr txBox="1"/>
          <p:nvPr/>
        </p:nvSpPr>
        <p:spPr>
          <a:xfrm>
            <a:off x="3250921" y="5454381"/>
            <a:ext cx="18904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 425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1986AF-7351-07EC-7726-86ECA2F1926E}"/>
              </a:ext>
            </a:extLst>
          </p:cNvPr>
          <p:cNvSpPr txBox="1"/>
          <p:nvPr/>
        </p:nvSpPr>
        <p:spPr>
          <a:xfrm>
            <a:off x="5584845" y="5401281"/>
            <a:ext cx="1905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&lt;434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126ECE-477A-A815-84BF-E03A707E3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773" y="2815635"/>
            <a:ext cx="1148715" cy="2574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5172C7-71B0-44F5-9C6A-409C3A771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8660" y="2540112"/>
            <a:ext cx="2011045" cy="28734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E25FC4-7A8D-F549-77D0-C089705036BC}"/>
              </a:ext>
            </a:extLst>
          </p:cNvPr>
          <p:cNvSpPr txBox="1"/>
          <p:nvPr/>
        </p:nvSpPr>
        <p:spPr>
          <a:xfrm>
            <a:off x="8059904" y="5413532"/>
            <a:ext cx="1905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Distance of &lt;450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4FDBC8-D71A-6318-24BA-EEEFC879EE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3478" y="2663727"/>
            <a:ext cx="1073150" cy="273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93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776BE-A1B1-DA24-908E-5F832CF1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3EEC-0112-48A3-9F40-52AB106B0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–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8F858-0BC9-7871-88DE-EAE21D183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Finetuned Pre-trained ResNet50 model trained on ImageNet dataset on </a:t>
            </a:r>
            <a:r>
              <a:rPr lang="en-US" dirty="0" err="1"/>
              <a:t>articleType</a:t>
            </a:r>
            <a:r>
              <a:rPr lang="en-US" dirty="0"/>
              <a:t> Classification and with Cosine Similarity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0CE32-1EBE-5712-3E32-333A6F7813A8}"/>
              </a:ext>
            </a:extLst>
          </p:cNvPr>
          <p:cNvSpPr txBox="1"/>
          <p:nvPr/>
        </p:nvSpPr>
        <p:spPr>
          <a:xfrm>
            <a:off x="1146035" y="5463250"/>
            <a:ext cx="167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Sample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513E77-C362-48B1-3D8F-4380BA3DB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36" y="4111559"/>
            <a:ext cx="1049717" cy="1216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72028F-DD9C-70F0-6229-A115F25910FA}"/>
              </a:ext>
            </a:extLst>
          </p:cNvPr>
          <p:cNvSpPr txBox="1"/>
          <p:nvPr/>
        </p:nvSpPr>
        <p:spPr>
          <a:xfrm>
            <a:off x="6632476" y="5431810"/>
            <a:ext cx="1890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Similarity of &gt; 0.95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CF5F9A-4B35-54E3-115C-6C47FB802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104039"/>
            <a:ext cx="1552753" cy="22242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DB4981-90CE-E3E3-B29B-54E82987C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177" y="3105309"/>
            <a:ext cx="1552753" cy="222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83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C5F91-BBA9-BED6-02C1-35A0D58C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1DAEA-6C63-A270-1CB2-7AA74098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–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E0C87-5BDE-2ACC-CC21-DA7542961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Finetuned Pre-trained ResNet50 model trained on ImageNet dataset on Contrastive Learning and with Cosine Similarity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2AD55-D9AE-2E87-8137-CA1398D68299}"/>
              </a:ext>
            </a:extLst>
          </p:cNvPr>
          <p:cNvSpPr txBox="1"/>
          <p:nvPr/>
        </p:nvSpPr>
        <p:spPr>
          <a:xfrm>
            <a:off x="1146035" y="5463250"/>
            <a:ext cx="167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Sample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E27724-1287-86EB-47CF-87BABDC58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36" y="4111559"/>
            <a:ext cx="1049717" cy="1216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F3B07F-3D33-3C71-92E2-0E98D55E1B8E}"/>
              </a:ext>
            </a:extLst>
          </p:cNvPr>
          <p:cNvSpPr txBox="1"/>
          <p:nvPr/>
        </p:nvSpPr>
        <p:spPr>
          <a:xfrm>
            <a:off x="4951223" y="5591077"/>
            <a:ext cx="1890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Similarity of &gt; 0.94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C37F8-46BE-3D0A-A545-DA5996BD0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283" y="2965943"/>
            <a:ext cx="1049717" cy="25361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49C3AF-01F1-E50C-9398-CF180AF76915}"/>
              </a:ext>
            </a:extLst>
          </p:cNvPr>
          <p:cNvSpPr txBox="1"/>
          <p:nvPr/>
        </p:nvSpPr>
        <p:spPr>
          <a:xfrm>
            <a:off x="8087830" y="5463250"/>
            <a:ext cx="1890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Similarity of &gt; 0.95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DB27824-F7A7-ABC2-B856-049BB0FD01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7830" y="4111559"/>
            <a:ext cx="911710" cy="114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143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E4BE-810C-3F8B-360E-05C74B601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F5328-8107-3107-A667-EDFB2CD80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–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82B7C-1521-A0A2-F908-0F88AF414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Custom Trained ResNet50 model trained on ImageNet dataset and with Cosine Similarity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D2FEA-CCD8-078C-FEC2-FDF5A0979280}"/>
              </a:ext>
            </a:extLst>
          </p:cNvPr>
          <p:cNvSpPr txBox="1"/>
          <p:nvPr/>
        </p:nvSpPr>
        <p:spPr>
          <a:xfrm>
            <a:off x="1146035" y="5463250"/>
            <a:ext cx="16706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Sample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66636F-E48B-4F37-99E8-053277925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836" y="4111559"/>
            <a:ext cx="1049717" cy="1216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B9ECA9-35FA-C783-5FB0-FD4853C1D9FB}"/>
              </a:ext>
            </a:extLst>
          </p:cNvPr>
          <p:cNvSpPr txBox="1"/>
          <p:nvPr/>
        </p:nvSpPr>
        <p:spPr>
          <a:xfrm>
            <a:off x="4951223" y="5591077"/>
            <a:ext cx="1890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Similarity of &gt; 0.997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D0EB4B-7AD0-903A-B68B-983DBCFEA1CF}"/>
              </a:ext>
            </a:extLst>
          </p:cNvPr>
          <p:cNvSpPr txBox="1"/>
          <p:nvPr/>
        </p:nvSpPr>
        <p:spPr>
          <a:xfrm>
            <a:off x="8087830" y="5463250"/>
            <a:ext cx="18904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Results with Similarity of &gt; 0.998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5162E9-9BE4-E6DB-AA02-FE7D110C4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746" y="2932981"/>
            <a:ext cx="1741994" cy="25302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ED657B-16BC-7854-CF91-492A7E07F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668" y="4079268"/>
            <a:ext cx="723265" cy="124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119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634C1-E578-C47C-A92D-D391B003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Recall and Precision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D49562-9C65-8FAE-F8BC-BDC9525F2F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2362425"/>
              </p:ext>
            </p:extLst>
          </p:nvPr>
        </p:nvGraphicFramePr>
        <p:xfrm>
          <a:off x="1086928" y="1690688"/>
          <a:ext cx="10006642" cy="44685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58928">
                  <a:extLst>
                    <a:ext uri="{9D8B030D-6E8A-4147-A177-3AD203B41FA5}">
                      <a16:colId xmlns:a16="http://schemas.microsoft.com/office/drawing/2014/main" val="1161321509"/>
                    </a:ext>
                  </a:extLst>
                </a:gridCol>
                <a:gridCol w="2653180">
                  <a:extLst>
                    <a:ext uri="{9D8B030D-6E8A-4147-A177-3AD203B41FA5}">
                      <a16:colId xmlns:a16="http://schemas.microsoft.com/office/drawing/2014/main" val="438827722"/>
                    </a:ext>
                  </a:extLst>
                </a:gridCol>
                <a:gridCol w="1777987">
                  <a:extLst>
                    <a:ext uri="{9D8B030D-6E8A-4147-A177-3AD203B41FA5}">
                      <a16:colId xmlns:a16="http://schemas.microsoft.com/office/drawing/2014/main" val="2575172056"/>
                    </a:ext>
                  </a:extLst>
                </a:gridCol>
                <a:gridCol w="1777987">
                  <a:extLst>
                    <a:ext uri="{9D8B030D-6E8A-4147-A177-3AD203B41FA5}">
                      <a16:colId xmlns:a16="http://schemas.microsoft.com/office/drawing/2014/main" val="3733772906"/>
                    </a:ext>
                  </a:extLst>
                </a:gridCol>
                <a:gridCol w="1836640">
                  <a:extLst>
                    <a:ext uri="{9D8B030D-6E8A-4147-A177-3AD203B41FA5}">
                      <a16:colId xmlns:a16="http://schemas.microsoft.com/office/drawing/2014/main" val="3776132627"/>
                    </a:ext>
                  </a:extLst>
                </a:gridCol>
                <a:gridCol w="1401920">
                  <a:extLst>
                    <a:ext uri="{9D8B030D-6E8A-4147-A177-3AD203B41FA5}">
                      <a16:colId xmlns:a16="http://schemas.microsoft.com/office/drawing/2014/main" val="2572557208"/>
                    </a:ext>
                  </a:extLst>
                </a:gridCol>
              </a:tblGrid>
              <a:tr h="7390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 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Model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Recall@1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Recall@5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Recall@10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mAP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0176936"/>
                  </a:ext>
                </a:extLst>
              </a:tr>
              <a:tr h="7390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ResNet50 (Scratch)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1.0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1.0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1.0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0.378605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0500180"/>
                  </a:ext>
                </a:extLst>
              </a:tr>
              <a:tr h="7390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 err="1">
                          <a:effectLst/>
                        </a:rPr>
                        <a:t>SimCLR</a:t>
                      </a:r>
                      <a:r>
                        <a:rPr lang="en-IN" sz="1800" kern="100" dirty="0">
                          <a:effectLst/>
                        </a:rPr>
                        <a:t> ResNet50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1.0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1.0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1.0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0.459474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045869"/>
                  </a:ext>
                </a:extLst>
              </a:tr>
              <a:tr h="739076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2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ResNet50 Fine-tuned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1.0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1.0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1.0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0.541431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1668707"/>
                  </a:ext>
                </a:extLst>
              </a:tr>
              <a:tr h="151227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3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ResNet50 (Pretrained + Padding)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1.0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1.0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1.0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0.708221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86883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994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159EF-AB84-7E59-9791-93A870068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Embedding Separation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E7C799-B271-7811-50BA-A5E44ED572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180582"/>
              </p:ext>
            </p:extLst>
          </p:nvPr>
        </p:nvGraphicFramePr>
        <p:xfrm>
          <a:off x="1069675" y="1690688"/>
          <a:ext cx="9903125" cy="48021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4887">
                  <a:extLst>
                    <a:ext uri="{9D8B030D-6E8A-4147-A177-3AD203B41FA5}">
                      <a16:colId xmlns:a16="http://schemas.microsoft.com/office/drawing/2014/main" val="2347140081"/>
                    </a:ext>
                  </a:extLst>
                </a:gridCol>
                <a:gridCol w="2527043">
                  <a:extLst>
                    <a:ext uri="{9D8B030D-6E8A-4147-A177-3AD203B41FA5}">
                      <a16:colId xmlns:a16="http://schemas.microsoft.com/office/drawing/2014/main" val="3825042665"/>
                    </a:ext>
                  </a:extLst>
                </a:gridCol>
                <a:gridCol w="1767821">
                  <a:extLst>
                    <a:ext uri="{9D8B030D-6E8A-4147-A177-3AD203B41FA5}">
                      <a16:colId xmlns:a16="http://schemas.microsoft.com/office/drawing/2014/main" val="2886279619"/>
                    </a:ext>
                  </a:extLst>
                </a:gridCol>
                <a:gridCol w="1739004">
                  <a:extLst>
                    <a:ext uri="{9D8B030D-6E8A-4147-A177-3AD203B41FA5}">
                      <a16:colId xmlns:a16="http://schemas.microsoft.com/office/drawing/2014/main" val="3154808060"/>
                    </a:ext>
                  </a:extLst>
                </a:gridCol>
                <a:gridCol w="1740113">
                  <a:extLst>
                    <a:ext uri="{9D8B030D-6E8A-4147-A177-3AD203B41FA5}">
                      <a16:colId xmlns:a16="http://schemas.microsoft.com/office/drawing/2014/main" val="4162884302"/>
                    </a:ext>
                  </a:extLst>
                </a:gridCol>
                <a:gridCol w="1414257">
                  <a:extLst>
                    <a:ext uri="{9D8B030D-6E8A-4147-A177-3AD203B41FA5}">
                      <a16:colId xmlns:a16="http://schemas.microsoft.com/office/drawing/2014/main" val="1036375946"/>
                    </a:ext>
                  </a:extLst>
                </a:gridCol>
              </a:tblGrid>
              <a:tr h="107364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Sr. No.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Model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Silhouette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Intra-Class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Inter-Class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Separation Ratio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6188285"/>
                  </a:ext>
                </a:extLst>
              </a:tr>
              <a:tr h="5352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ResNet50 (Scratch)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-0.453485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0.767261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0.990459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1.290903  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2930138"/>
                  </a:ext>
                </a:extLst>
              </a:tr>
              <a:tr h="53528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SimCLR ResNet50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-0.270317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0.709757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0.996486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1.403981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3449115"/>
                  </a:ext>
                </a:extLst>
              </a:tr>
              <a:tr h="104749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2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ResNet50 Fine-tuned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-0.515556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0.054785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0.203822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3.720384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1121541"/>
                  </a:ext>
                </a:extLst>
              </a:tr>
              <a:tr h="1610471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3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ResNet50 (Pretrained + Padding)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</a:rPr>
                        <a:t>-0.078462</a:t>
                      </a:r>
                      <a:endParaRPr lang="en-IN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0.168644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0.359602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</a:rPr>
                        <a:t>2.132321</a:t>
                      </a:r>
                      <a:endParaRPr lang="en-IN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4474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3948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7DE5-0201-C2C3-B526-07B952DA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Retrieval Tests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E35FD-4D43-415D-B4CF-27D694C3D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3185" y="1690687"/>
            <a:ext cx="4194373" cy="2235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F04E3D-9898-E445-06E0-EDF4E9C7E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817" y="1690687"/>
            <a:ext cx="4044998" cy="2235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87F235-824B-7455-5035-10EB00144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9401" y="4088320"/>
            <a:ext cx="4008157" cy="2404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381D7E4-B928-D264-C7B7-E2B2396BE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817" y="3773352"/>
            <a:ext cx="4044998" cy="271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64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2E12-5B0F-20F1-4C7F-45FA76E45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687B3-2889-34AC-1BEA-0306EF78D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Pre-trainedResNet50 with image padding gave best results</a:t>
            </a:r>
          </a:p>
          <a:p>
            <a:r>
              <a:rPr lang="en-IN" dirty="0"/>
              <a:t>Second best model was Finetuned ResNet50 Model on Classification</a:t>
            </a:r>
          </a:p>
          <a:p>
            <a:r>
              <a:rPr lang="en-IN" dirty="0"/>
              <a:t>Similarity Measure does not make material difference in results</a:t>
            </a:r>
          </a:p>
          <a:p>
            <a:r>
              <a:rPr lang="en-IN" dirty="0"/>
              <a:t>There is a scope to find a better model by combining finetuning of Classification with Contrastive Learning </a:t>
            </a:r>
          </a:p>
          <a:p>
            <a:r>
              <a:rPr lang="en-IN" dirty="0"/>
              <a:t>Other possible improvements are increasing batch size, epochs, image augmentation techniques, use of better quality image data and testing other models on fashion industry dataset</a:t>
            </a:r>
          </a:p>
        </p:txBody>
      </p:sp>
    </p:spTree>
    <p:extLst>
      <p:ext uri="{BB962C8B-B14F-4D97-AF65-F5344CB8AC3E}">
        <p14:creationId xmlns:p14="http://schemas.microsoft.com/office/powerpoint/2010/main" val="18056786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2037</TotalTime>
  <Words>977</Words>
  <Application>Microsoft Office PowerPoint</Application>
  <PresentationFormat>Widescreen</PresentationFormat>
  <Paragraphs>213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Arial Rounded MT Bold</vt:lpstr>
      <vt:lpstr>Calibri</vt:lpstr>
      <vt:lpstr>Trebuchet MS</vt:lpstr>
      <vt:lpstr>Wingdings</vt:lpstr>
      <vt:lpstr>Wingdings 3</vt:lpstr>
      <vt:lpstr>Facet</vt:lpstr>
      <vt:lpstr>MATCHING PRODuCTS Recommendations ON UPLOADing AN image On an e-commerce Platform USING neural network models </vt:lpstr>
      <vt:lpstr>Introduction</vt:lpstr>
      <vt:lpstr>Literature Review</vt:lpstr>
      <vt:lpstr>Methods of Image Retrieval – Initial Methods</vt:lpstr>
      <vt:lpstr>Methods of Image Retrieval – Manual Methods</vt:lpstr>
      <vt:lpstr>Methods of Image Retrieval – CNN Methods</vt:lpstr>
      <vt:lpstr>Methods of Image Retrieval – Advanced Methods</vt:lpstr>
      <vt:lpstr>Research Methodology – Data Selection, Pre-Processing and Transformation</vt:lpstr>
      <vt:lpstr>Research Methodology – Data Visualization Frequency Distribution</vt:lpstr>
      <vt:lpstr>Research Methodology – Data Visualization Heat Maps</vt:lpstr>
      <vt:lpstr>Research Process</vt:lpstr>
      <vt:lpstr>Research Methodology – Models Used</vt:lpstr>
      <vt:lpstr>Results – 1</vt:lpstr>
      <vt:lpstr>Results – 2</vt:lpstr>
      <vt:lpstr>Results – 3</vt:lpstr>
      <vt:lpstr>Results – 4</vt:lpstr>
      <vt:lpstr>Results – 5</vt:lpstr>
      <vt:lpstr>Results – 6</vt:lpstr>
      <vt:lpstr>Results – 7</vt:lpstr>
      <vt:lpstr>Results – 8</vt:lpstr>
      <vt:lpstr>Recall and Precision</vt:lpstr>
      <vt:lpstr>Embedding Separation Summary</vt:lpstr>
      <vt:lpstr>Other Retrieval Tests</vt:lpstr>
      <vt:lpstr>Conclusion and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 Khurana</dc:creator>
  <cp:lastModifiedBy>Hemant Khurana</cp:lastModifiedBy>
  <cp:revision>83</cp:revision>
  <dcterms:created xsi:type="dcterms:W3CDTF">2025-11-05T05:42:47Z</dcterms:created>
  <dcterms:modified xsi:type="dcterms:W3CDTF">2025-11-08T07:56:21Z</dcterms:modified>
</cp:coreProperties>
</file>